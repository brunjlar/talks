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551116dc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551116dc5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510249237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5102492379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5102492379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5102492379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5102492379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5102492379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032b688fb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032b688fbf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5102492379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5102492379_0_2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5102492379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5102492379_0_2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5102492379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5102492379_0_2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5102492379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5102492379_0_2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5102492379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5102492379_0_2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102492379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5102492379_0_3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5102492379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5102492379_0_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5102492379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5102492379_0_3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5102492379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5102492379_0_3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5102492379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5102492379_0_3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5102492379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5102492379_0_3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032b688fb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032b688fbf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032b688fb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032b688fbf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032b688fb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032b688fbf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032b688fb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032b688fbf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5102492379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5102492379_0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ctrTitle"/>
          </p:nvPr>
        </p:nvSpPr>
        <p:spPr>
          <a:xfrm>
            <a:off x="324313" y="149535"/>
            <a:ext cx="115433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400"/>
              <a:buNone/>
              <a:defRPr b="0" i="0" sz="3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2" name="Google Shape;82;p13"/>
          <p:cNvSpPr txBox="1"/>
          <p:nvPr>
            <p:ph idx="1" type="subTitle"/>
          </p:nvPr>
        </p:nvSpPr>
        <p:spPr>
          <a:xfrm>
            <a:off x="1828800" y="3840480"/>
            <a:ext cx="8534400" cy="1714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l">
              <a:spcBef>
                <a:spcPts val="50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l">
              <a:spcBef>
                <a:spcPts val="50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l">
              <a:spcBef>
                <a:spcPts val="50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l">
              <a:spcBef>
                <a:spcPts val="50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l">
              <a:spcBef>
                <a:spcPts val="50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l">
              <a:spcBef>
                <a:spcPts val="50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l">
              <a:spcBef>
                <a:spcPts val="50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l">
              <a:spcBef>
                <a:spcPts val="50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4145280" y="6377939"/>
            <a:ext cx="3901440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609600" y="6377939"/>
            <a:ext cx="2804160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11563353" y="6319048"/>
            <a:ext cx="376169" cy="29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34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324313" y="149535"/>
            <a:ext cx="115433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400"/>
              <a:buNone/>
              <a:defRPr b="0" i="0" sz="2900">
                <a:solidFill>
                  <a:srgbClr val="F9F9F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922661" y="1707726"/>
            <a:ext cx="10346673" cy="348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3400"/>
              <a:buNone/>
              <a:defRPr b="0" i="0" sz="27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3400"/>
              <a:buNone/>
              <a:defRPr sz="34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3400"/>
              <a:buNone/>
              <a:defRPr sz="34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3400"/>
              <a:buNone/>
              <a:defRPr sz="34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3400"/>
              <a:buNone/>
              <a:defRPr sz="34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3400"/>
              <a:buNone/>
              <a:defRPr sz="34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3400"/>
              <a:buNone/>
              <a:defRPr sz="34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3400"/>
              <a:buNone/>
              <a:defRPr sz="34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9" name="Google Shape;89;p14"/>
          <p:cNvSpPr txBox="1"/>
          <p:nvPr>
            <p:ph idx="11" type="ftr"/>
          </p:nvPr>
        </p:nvSpPr>
        <p:spPr>
          <a:xfrm>
            <a:off x="4145280" y="6377939"/>
            <a:ext cx="3901440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90" name="Google Shape;90;p14"/>
          <p:cNvSpPr txBox="1"/>
          <p:nvPr>
            <p:ph idx="10" type="dt"/>
          </p:nvPr>
        </p:nvSpPr>
        <p:spPr>
          <a:xfrm>
            <a:off x="609600" y="6377939"/>
            <a:ext cx="2804160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11563353" y="6319048"/>
            <a:ext cx="376169" cy="29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34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1" type="ftr"/>
          </p:nvPr>
        </p:nvSpPr>
        <p:spPr>
          <a:xfrm>
            <a:off x="4145280" y="6377939"/>
            <a:ext cx="3901440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94" name="Google Shape;94;p15"/>
          <p:cNvSpPr txBox="1"/>
          <p:nvPr>
            <p:ph idx="10" type="dt"/>
          </p:nvPr>
        </p:nvSpPr>
        <p:spPr>
          <a:xfrm>
            <a:off x="609600" y="6377939"/>
            <a:ext cx="2804160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11563353" y="6319048"/>
            <a:ext cx="376169" cy="29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34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324313" y="149535"/>
            <a:ext cx="115433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400"/>
              <a:buNone/>
              <a:defRPr b="0" i="0" sz="2900">
                <a:solidFill>
                  <a:srgbClr val="F9F9F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98" name="Google Shape;98;p16"/>
          <p:cNvSpPr txBox="1"/>
          <p:nvPr>
            <p:ph idx="11" type="ftr"/>
          </p:nvPr>
        </p:nvSpPr>
        <p:spPr>
          <a:xfrm>
            <a:off x="4145280" y="6377939"/>
            <a:ext cx="3901440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609600" y="6377939"/>
            <a:ext cx="2804160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l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11563353" y="6319048"/>
            <a:ext cx="376169" cy="29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165100" marR="0" algn="l">
              <a:lnSpc>
                <a:spcPct val="100000"/>
              </a:lnSpc>
              <a:spcBef>
                <a:spcPts val="0"/>
              </a:spcBef>
              <a:buNone/>
              <a:defRPr b="0" i="0" sz="1900">
                <a:solidFill>
                  <a:srgbClr val="22373A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34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232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17"/>
          <p:cNvCxnSpPr/>
          <p:nvPr/>
        </p:nvCxnSpPr>
        <p:spPr>
          <a:xfrm>
            <a:off x="5450004" y="3762625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" name="Google Shape;107;p17"/>
          <p:cNvSpPr txBox="1"/>
          <p:nvPr/>
        </p:nvSpPr>
        <p:spPr>
          <a:xfrm>
            <a:off x="3448700" y="2957400"/>
            <a:ext cx="5103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1" lang="en-US" sz="4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Cardano Incentives</a:t>
            </a:r>
            <a:endParaRPr b="1" i="0" sz="4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3640250" y="3982800"/>
            <a:ext cx="47208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Enabling a Fair Decentralized System</a:t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5933297" y="3695285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21" y="316319"/>
            <a:ext cx="1201252" cy="281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9588062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2159571" y="1034331"/>
            <a:ext cx="78867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About myself</a:t>
            </a:r>
            <a:endParaRPr/>
          </a:p>
        </p:txBody>
      </p:sp>
      <p:cxnSp>
        <p:nvCxnSpPr>
          <p:cNvPr id="117" name="Google Shape;117;p18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18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>
            <p:ph idx="10" type="dt"/>
          </p:nvPr>
        </p:nvSpPr>
        <p:spPr>
          <a:xfrm>
            <a:off x="546538" y="6364454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lang="en-US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lang="en-US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18"/>
          <p:cNvCxnSpPr/>
          <p:nvPr/>
        </p:nvCxnSpPr>
        <p:spPr>
          <a:xfrm>
            <a:off x="546538" y="6356352"/>
            <a:ext cx="11098924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" name="Google Shape;121;p18"/>
          <p:cNvSpPr txBox="1"/>
          <p:nvPr>
            <p:ph idx="11" type="ftr"/>
          </p:nvPr>
        </p:nvSpPr>
        <p:spPr>
          <a:xfrm>
            <a:off x="5165950" y="6356350"/>
            <a:ext cx="14322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INCENTIVES</a:t>
            </a:r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8"/>
          <p:cNvPicPr preferRelativeResize="0"/>
          <p:nvPr/>
        </p:nvPicPr>
        <p:blipFill rotWithShape="1">
          <a:blip r:embed="rId3">
            <a:alphaModFix/>
          </a:blip>
          <a:srcRect b="0" l="16666" r="16666" t="0"/>
          <a:stretch/>
        </p:blipFill>
        <p:spPr>
          <a:xfrm>
            <a:off x="546552" y="2665963"/>
            <a:ext cx="1971537" cy="2957262"/>
          </a:xfrm>
          <a:prstGeom prst="rect">
            <a:avLst/>
          </a:prstGeom>
          <a:noFill/>
          <a:ln cap="flat" cmpd="sng" w="762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4" name="Google Shape;12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833" y="152590"/>
            <a:ext cx="1296448" cy="2726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/>
        </p:nvSpPr>
        <p:spPr>
          <a:xfrm>
            <a:off x="3036650" y="2649449"/>
            <a:ext cx="8608800" cy="3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PhD in Pure Mathematics from Regensburg  University (Germany).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Postdoc at Cambridge University (UK).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Ten years working in Software Development  prior to joining IOG.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Haskell enthusiast for more than 15 years.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Joined IOG November 2016.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Director of Education at IOHK.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Led the ”Incentives” workstream.</a:t>
            </a:r>
            <a:endParaRPr>
              <a:solidFill>
                <a:srgbClr val="13AF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9588062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2982125" y="1034325"/>
            <a:ext cx="61839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Doing the Hard Work</a:t>
            </a:r>
            <a:endParaRPr/>
          </a:p>
        </p:txBody>
      </p:sp>
      <p:cxnSp>
        <p:nvCxnSpPr>
          <p:cNvPr id="132" name="Google Shape;132;p19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p19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lang="en-US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lang="en-US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9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p19"/>
          <p:cNvSpPr txBox="1"/>
          <p:nvPr>
            <p:ph idx="11" type="ftr"/>
          </p:nvPr>
        </p:nvSpPr>
        <p:spPr>
          <a:xfrm>
            <a:off x="5384675" y="6356350"/>
            <a:ext cx="1378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INCENTIV</a:t>
            </a:r>
            <a:r>
              <a:rPr b="1" lang="en-US" sz="1800">
                <a:solidFill>
                  <a:srgbClr val="FF0000"/>
                </a:solidFill>
              </a:rPr>
              <a:t>ES</a:t>
            </a:r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52590"/>
            <a:ext cx="1296448" cy="27263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 txBox="1"/>
          <p:nvPr/>
        </p:nvSpPr>
        <p:spPr>
          <a:xfrm>
            <a:off x="8605771" y="3176114"/>
            <a:ext cx="29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enior Research Fellow</a:t>
            </a:r>
            <a:endParaRPr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 rotWithShape="1">
          <a:blip r:embed="rId4">
            <a:alphaModFix/>
          </a:blip>
          <a:srcRect b="0" l="16666" r="16666" t="0"/>
          <a:stretch/>
        </p:blipFill>
        <p:spPr>
          <a:xfrm>
            <a:off x="6942379" y="2418457"/>
            <a:ext cx="1101300" cy="1651950"/>
          </a:xfrm>
          <a:prstGeom prst="rect">
            <a:avLst/>
          </a:prstGeom>
          <a:noFill/>
          <a:ln cap="flat" cmpd="sng" w="762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1" name="Google Shape;141;p19"/>
          <p:cNvSpPr txBox="1"/>
          <p:nvPr/>
        </p:nvSpPr>
        <p:spPr>
          <a:xfrm>
            <a:off x="8605767" y="2786088"/>
            <a:ext cx="296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Dr. Elias Koutsoupias</a:t>
            </a:r>
            <a:endParaRPr/>
          </a:p>
        </p:txBody>
      </p:sp>
      <p:pic>
        <p:nvPicPr>
          <p:cNvPr id="142" name="Google Shape;142;p19"/>
          <p:cNvPicPr preferRelativeResize="0"/>
          <p:nvPr/>
        </p:nvPicPr>
        <p:blipFill rotWithShape="1">
          <a:blip r:embed="rId5">
            <a:alphaModFix/>
          </a:blip>
          <a:srcRect b="0" l="13888" r="13888" t="0"/>
          <a:stretch/>
        </p:blipFill>
        <p:spPr>
          <a:xfrm>
            <a:off x="899329" y="4391457"/>
            <a:ext cx="1101300" cy="1651952"/>
          </a:xfrm>
          <a:prstGeom prst="rect">
            <a:avLst/>
          </a:prstGeom>
          <a:noFill/>
          <a:ln cap="flat" cmpd="sng" w="762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3" name="Google Shape;143;p19"/>
          <p:cNvSpPr txBox="1"/>
          <p:nvPr/>
        </p:nvSpPr>
        <p:spPr>
          <a:xfrm>
            <a:off x="2603946" y="5159289"/>
            <a:ext cx="29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Researcher</a:t>
            </a:r>
            <a:endParaRPr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2603950" y="4759100"/>
            <a:ext cx="314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Aikaterini-Panagiota Stouka</a:t>
            </a:r>
            <a:endParaRPr/>
          </a:p>
        </p:txBody>
      </p:sp>
      <p:pic>
        <p:nvPicPr>
          <p:cNvPr id="145" name="Google Shape;145;p19"/>
          <p:cNvPicPr preferRelativeResize="0"/>
          <p:nvPr/>
        </p:nvPicPr>
        <p:blipFill rotWithShape="1">
          <a:blip r:embed="rId6">
            <a:alphaModFix/>
          </a:blip>
          <a:srcRect b="0" l="16666" r="16666" t="0"/>
          <a:stretch/>
        </p:blipFill>
        <p:spPr>
          <a:xfrm>
            <a:off x="899329" y="2418457"/>
            <a:ext cx="1101300" cy="1651951"/>
          </a:xfrm>
          <a:prstGeom prst="rect">
            <a:avLst/>
          </a:prstGeom>
          <a:noFill/>
          <a:ln cap="flat" cmpd="sng" w="762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" name="Google Shape;146;p19"/>
          <p:cNvSpPr txBox="1"/>
          <p:nvPr/>
        </p:nvSpPr>
        <p:spPr>
          <a:xfrm>
            <a:off x="2562721" y="3186289"/>
            <a:ext cx="29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Chief Scientist</a:t>
            </a:r>
            <a:endParaRPr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2562717" y="2786088"/>
            <a:ext cx="296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Dr. Aggelos Kiayias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/>
        </p:nvSpPr>
        <p:spPr>
          <a:xfrm>
            <a:off x="2159571" y="1034331"/>
            <a:ext cx="78867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are Incentives?</a:t>
            </a:r>
            <a:endParaRPr/>
          </a:p>
        </p:txBody>
      </p:sp>
      <p:sp>
        <p:nvSpPr>
          <p:cNvPr id="153" name="Google Shape;153;p20"/>
          <p:cNvSpPr txBox="1"/>
          <p:nvPr>
            <p:ph idx="11" type="ftr"/>
          </p:nvPr>
        </p:nvSpPr>
        <p:spPr>
          <a:xfrm>
            <a:off x="5390676" y="6356350"/>
            <a:ext cx="1366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2152650" y="2317173"/>
            <a:ext cx="78867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Incentives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 the context of a cryptocurrency are ways of  encouraging people to participate in the protocol and to follow  it faithfully.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case of Cardano: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4777C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Being online and creating a  block when having been elected slot leader.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4777C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Providing necessary network infrastructure.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20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" name="Google Shape;158;p20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9" name="Google Shape;159;p20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/>
        </p:nvSpPr>
        <p:spPr>
          <a:xfrm>
            <a:off x="2159571" y="1034331"/>
            <a:ext cx="78867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Incentive Types</a:t>
            </a:r>
            <a:endParaRPr/>
          </a:p>
        </p:txBody>
      </p:sp>
      <p:sp>
        <p:nvSpPr>
          <p:cNvPr id="167" name="Google Shape;167;p21"/>
          <p:cNvSpPr txBox="1"/>
          <p:nvPr>
            <p:ph idx="11" type="ftr"/>
          </p:nvPr>
        </p:nvSpPr>
        <p:spPr>
          <a:xfrm>
            <a:off x="5367425" y="6356350"/>
            <a:ext cx="14133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1312150" y="2439000"/>
            <a:ext cx="9567600" cy="3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this talk, when we talk about incentives, we mean </a:t>
            </a: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monetary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incentives in the form of ADA.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are other types of  incentives as well: things like </a:t>
            </a: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idealism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morality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the  general desire to </a:t>
            </a: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”do the right thing”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Design goal for Cardano incentives: </a:t>
            </a: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Monetary and moral incentives should align perfectly.</a:t>
            </a:r>
            <a:endParaRPr sz="2800">
              <a:solidFill>
                <a:srgbClr val="13AF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21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21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21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/>
        </p:nvSpPr>
        <p:spPr>
          <a:xfrm>
            <a:off x="2159571" y="1034331"/>
            <a:ext cx="78867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Danger of Misalignment</a:t>
            </a:r>
            <a:endParaRPr/>
          </a:p>
        </p:txBody>
      </p:sp>
      <p:sp>
        <p:nvSpPr>
          <p:cNvPr id="181" name="Google Shape;181;p22"/>
          <p:cNvSpPr txBox="1"/>
          <p:nvPr>
            <p:ph idx="11" type="ftr"/>
          </p:nvPr>
        </p:nvSpPr>
        <p:spPr>
          <a:xfrm>
            <a:off x="5367425" y="6356350"/>
            <a:ext cx="14133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1290275" y="2581800"/>
            <a:ext cx="9567600" cy="3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2014, the mining pool GHash.io controlled more than 51% of the Bitcoin mining power for several days.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Eventually, GHash.io voluntarily reduced its mining power and promised not to exceed 40% in the future. 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was a real conflict between the financial interests of the miners and the security of the network.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22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6" name="Google Shape;186;p22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7" name="Google Shape;187;p22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/>
        </p:nvSpPr>
        <p:spPr>
          <a:xfrm>
            <a:off x="2159571" y="1034331"/>
            <a:ext cx="78867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Desired Configuration</a:t>
            </a:r>
            <a:endParaRPr/>
          </a:p>
        </p:txBody>
      </p:sp>
      <p:sp>
        <p:nvSpPr>
          <p:cNvPr id="195" name="Google Shape;195;p23"/>
          <p:cNvSpPr txBox="1"/>
          <p:nvPr>
            <p:ph idx="11" type="ftr"/>
          </p:nvPr>
        </p:nvSpPr>
        <p:spPr>
          <a:xfrm>
            <a:off x="5390676" y="6356350"/>
            <a:ext cx="1366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3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1727425" y="2605588"/>
            <a:ext cx="875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solid majority of stake  (ca. 80%) should be delegated to a number of k stake pools  (k ∼ 100 seems to be reasonable).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stake pools should be online when needed, and they  should provide additional network infrastructure (”relay  nodes”).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23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0" name="Google Shape;200;p23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23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/>
        </p:nvSpPr>
        <p:spPr>
          <a:xfrm>
            <a:off x="2159571" y="1034331"/>
            <a:ext cx="78867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Incentive Sources</a:t>
            </a:r>
            <a:endParaRPr/>
          </a:p>
        </p:txBody>
      </p:sp>
      <p:sp>
        <p:nvSpPr>
          <p:cNvPr id="209" name="Google Shape;209;p24"/>
          <p:cNvSpPr txBox="1"/>
          <p:nvPr>
            <p:ph idx="11" type="ftr"/>
          </p:nvPr>
        </p:nvSpPr>
        <p:spPr>
          <a:xfrm>
            <a:off x="5390676" y="6356350"/>
            <a:ext cx="1366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4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4025875" y="3039550"/>
            <a:ext cx="41541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Transaction fees.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Non-refundable deposits.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Monetary expansion.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4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4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4" name="Google Shape;214;p24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5" name="Google Shape;215;p24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/>
        </p:nvSpPr>
        <p:spPr>
          <a:xfrm>
            <a:off x="2159571" y="1034331"/>
            <a:ext cx="78867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Incentives Distribution</a:t>
            </a:r>
            <a:endParaRPr/>
          </a:p>
        </p:txBody>
      </p:sp>
      <p:sp>
        <p:nvSpPr>
          <p:cNvPr id="223" name="Google Shape;223;p25"/>
          <p:cNvSpPr txBox="1"/>
          <p:nvPr>
            <p:ph idx="11" type="ftr"/>
          </p:nvPr>
        </p:nvSpPr>
        <p:spPr>
          <a:xfrm>
            <a:off x="5390676" y="6356350"/>
            <a:ext cx="1366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 txBox="1"/>
          <p:nvPr/>
        </p:nvSpPr>
        <p:spPr>
          <a:xfrm>
            <a:off x="1159475" y="2237800"/>
            <a:ext cx="9829200" cy="39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Cardano, time is divided into </a:t>
            </a: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epochs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slots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slot lasts 20 seconds, an epoch contains 21,600 slots and  lasts ﬁve days.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Incentives are distributed on an </a:t>
            </a: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epoch by epoch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base: Transaction fees, deposits and monetary expansion are collected  into a virtual rewards pool; then this pool is distributed  amongst the stakeholders.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25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8" name="Google Shape;228;p25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9" name="Google Shape;229;p25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/>
        </p:nvSpPr>
        <p:spPr>
          <a:xfrm>
            <a:off x="2159571" y="1034331"/>
            <a:ext cx="78867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Basic Idea of Distribution</a:t>
            </a:r>
            <a:endParaRPr/>
          </a:p>
        </p:txBody>
      </p:sp>
      <p:sp>
        <p:nvSpPr>
          <p:cNvPr id="237" name="Google Shape;237;p26"/>
          <p:cNvSpPr txBox="1"/>
          <p:nvPr>
            <p:ph idx="11" type="ftr"/>
          </p:nvPr>
        </p:nvSpPr>
        <p:spPr>
          <a:xfrm>
            <a:off x="5390676" y="6356350"/>
            <a:ext cx="1366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6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6"/>
          <p:cNvSpPr txBox="1"/>
          <p:nvPr/>
        </p:nvSpPr>
        <p:spPr>
          <a:xfrm>
            <a:off x="1052075" y="3601888"/>
            <a:ext cx="100440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rewards pool from one epoch is distributed amongst stake  pools (and individual protocol participants) </a:t>
            </a: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according to their  stake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6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26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2" name="Google Shape;242;p26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3" name="Google Shape;243;p26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6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 txBox="1"/>
          <p:nvPr/>
        </p:nvSpPr>
        <p:spPr>
          <a:xfrm>
            <a:off x="1956850" y="1042450"/>
            <a:ext cx="82782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with the </a:t>
            </a: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Basic Idea</a:t>
            </a:r>
            <a:endParaRPr/>
          </a:p>
        </p:txBody>
      </p:sp>
      <p:sp>
        <p:nvSpPr>
          <p:cNvPr id="251" name="Google Shape;251;p27"/>
          <p:cNvSpPr txBox="1"/>
          <p:nvPr>
            <p:ph idx="11" type="ftr"/>
          </p:nvPr>
        </p:nvSpPr>
        <p:spPr>
          <a:xfrm>
            <a:off x="5390676" y="6356350"/>
            <a:ext cx="1366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7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7"/>
          <p:cNvSpPr txBox="1"/>
          <p:nvPr/>
        </p:nvSpPr>
        <p:spPr>
          <a:xfrm>
            <a:off x="1052075" y="2265391"/>
            <a:ext cx="10044000" cy="24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basic idea is a good guideline, but too naive: The fewer  pools there are, the lower total costs will be, the higher  everybody’s rewards will be.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12700" rtl="0" algn="l">
              <a:lnSpc>
                <a:spcPct val="11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 the system will tend towards a single dictatorial pool that  everybody else delegates to.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7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27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6" name="Google Shape;256;p27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7" name="Google Shape;257;p27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7"/>
          <p:cNvSpPr/>
          <p:nvPr/>
        </p:nvSpPr>
        <p:spPr>
          <a:xfrm>
            <a:off x="1052175" y="4938150"/>
            <a:ext cx="10044000" cy="1255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/>
          <p:nvPr/>
        </p:nvSpPr>
        <p:spPr>
          <a:xfrm>
            <a:off x="1885800" y="1042450"/>
            <a:ext cx="84204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First refinement: Large Pools</a:t>
            </a:r>
            <a:endParaRPr/>
          </a:p>
        </p:txBody>
      </p:sp>
      <p:sp>
        <p:nvSpPr>
          <p:cNvPr id="266" name="Google Shape;266;p28"/>
          <p:cNvSpPr txBox="1"/>
          <p:nvPr>
            <p:ph idx="11" type="ftr"/>
          </p:nvPr>
        </p:nvSpPr>
        <p:spPr>
          <a:xfrm>
            <a:off x="5390676" y="6356350"/>
            <a:ext cx="1366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8"/>
          <p:cNvSpPr txBox="1"/>
          <p:nvPr/>
        </p:nvSpPr>
        <p:spPr>
          <a:xfrm>
            <a:off x="1052075" y="3438254"/>
            <a:ext cx="10044000" cy="14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maximal proportion  of the rewards pool that a stake pool can receive will be limited  by 1/k, where k is the number of desired pools (k ∼ 100).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8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28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1" name="Google Shape;271;p28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2" name="Google Shape;272;p28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 txBox="1"/>
          <p:nvPr/>
        </p:nvSpPr>
        <p:spPr>
          <a:xfrm>
            <a:off x="1203675" y="1054850"/>
            <a:ext cx="97917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Second refinement: Being Online</a:t>
            </a:r>
            <a:endParaRPr/>
          </a:p>
        </p:txBody>
      </p:sp>
      <p:sp>
        <p:nvSpPr>
          <p:cNvPr id="280" name="Google Shape;280;p29"/>
          <p:cNvSpPr txBox="1"/>
          <p:nvPr>
            <p:ph idx="11" type="ftr"/>
          </p:nvPr>
        </p:nvSpPr>
        <p:spPr>
          <a:xfrm>
            <a:off x="5390676" y="6356350"/>
            <a:ext cx="1366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9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1439025" y="2645500"/>
            <a:ext cx="932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take pools should be </a:t>
            </a: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penalized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en-US" sz="2800">
                <a:solidFill>
                  <a:srgbClr val="F4777C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following the  protocol and </a:t>
            </a:r>
            <a:r>
              <a:rPr lang="en-US" sz="2800">
                <a:solidFill>
                  <a:srgbClr val="F4777C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being online when it is their turn.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Rewards will be proportional to </a:t>
            </a: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a protocol without public leader schedule like Ouroboros Praos, performance has to be </a:t>
            </a: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estimated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9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29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5" name="Google Shape;285;p29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6" name="Google Shape;286;p29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0"/>
          <p:cNvSpPr txBox="1"/>
          <p:nvPr/>
        </p:nvSpPr>
        <p:spPr>
          <a:xfrm>
            <a:off x="1203675" y="1054850"/>
            <a:ext cx="97917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Third refinement: Sybil Prevention</a:t>
            </a:r>
            <a:endParaRPr/>
          </a:p>
        </p:txBody>
      </p:sp>
      <p:sp>
        <p:nvSpPr>
          <p:cNvPr id="294" name="Google Shape;294;p30"/>
          <p:cNvSpPr txBox="1"/>
          <p:nvPr>
            <p:ph idx="11" type="ftr"/>
          </p:nvPr>
        </p:nvSpPr>
        <p:spPr>
          <a:xfrm>
            <a:off x="5390676" y="6356350"/>
            <a:ext cx="1366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0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0"/>
          <p:cNvSpPr txBox="1"/>
          <p:nvPr/>
        </p:nvSpPr>
        <p:spPr>
          <a:xfrm>
            <a:off x="552550" y="2300675"/>
            <a:ext cx="11086800" cy="23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 attacker could create hundreds of  ”attractive” pools and have more than 50% of people  delegating to one of them.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Handled by making pool operators ”pledge” some  stake to their pools and make pool rewards depend on the  pledged amount.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30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9" name="Google Shape;299;p30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0" name="Google Shape;300;p30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0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/>
          <p:nvPr/>
        </p:nvSpPr>
        <p:spPr>
          <a:xfrm>
            <a:off x="2238701" y="4698713"/>
            <a:ext cx="7714500" cy="1571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 txBox="1"/>
          <p:nvPr/>
        </p:nvSpPr>
        <p:spPr>
          <a:xfrm>
            <a:off x="2159571" y="1034331"/>
            <a:ext cx="78867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Undistributed Rewards</a:t>
            </a:r>
            <a:endParaRPr/>
          </a:p>
        </p:txBody>
      </p:sp>
      <p:sp>
        <p:nvSpPr>
          <p:cNvPr id="309" name="Google Shape;309;p31"/>
          <p:cNvSpPr txBox="1"/>
          <p:nvPr>
            <p:ph idx="11" type="ftr"/>
          </p:nvPr>
        </p:nvSpPr>
        <p:spPr>
          <a:xfrm>
            <a:off x="5390676" y="6356350"/>
            <a:ext cx="1366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1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1"/>
          <p:cNvSpPr txBox="1"/>
          <p:nvPr/>
        </p:nvSpPr>
        <p:spPr>
          <a:xfrm>
            <a:off x="1503750" y="3038200"/>
            <a:ext cx="9184500" cy="23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These reﬁnements can lead to a  situation where not all funds contained in the rewards pool  will be distributed.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This, however, is a feature, not a bug, because the remaining  funds can instead be put to use in the </a:t>
            </a: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treasury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1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31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4" name="Google Shape;314;p31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5" name="Google Shape;315;p31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"/>
          <p:cNvSpPr txBox="1"/>
          <p:nvPr/>
        </p:nvSpPr>
        <p:spPr>
          <a:xfrm>
            <a:off x="1725425" y="1054850"/>
            <a:ext cx="86973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Distribution to Pool Members</a:t>
            </a:r>
            <a:endParaRPr/>
          </a:p>
        </p:txBody>
      </p:sp>
      <p:sp>
        <p:nvSpPr>
          <p:cNvPr id="323" name="Google Shape;323;p32"/>
          <p:cNvSpPr txBox="1"/>
          <p:nvPr>
            <p:ph idx="11" type="ftr"/>
          </p:nvPr>
        </p:nvSpPr>
        <p:spPr>
          <a:xfrm>
            <a:off x="5390676" y="6356350"/>
            <a:ext cx="1366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2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2"/>
          <p:cNvSpPr txBox="1"/>
          <p:nvPr/>
        </p:nvSpPr>
        <p:spPr>
          <a:xfrm>
            <a:off x="1441875" y="3032850"/>
            <a:ext cx="9315300" cy="23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pool </a:t>
            </a: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leader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herself should be compensated for her  costs (computing power, online time) and rewarded for  her efforts.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Pool </a:t>
            </a: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members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should be rewarded proportional to the  stake they delegated to the pool.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2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p32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8" name="Google Shape;328;p32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9" name="Google Shape;329;p32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2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3"/>
          <p:cNvSpPr txBox="1"/>
          <p:nvPr/>
        </p:nvSpPr>
        <p:spPr>
          <a:xfrm>
            <a:off x="1203675" y="1054850"/>
            <a:ext cx="97917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 Being Short Sighted</a:t>
            </a:r>
            <a:endParaRPr/>
          </a:p>
        </p:txBody>
      </p:sp>
      <p:sp>
        <p:nvSpPr>
          <p:cNvPr id="337" name="Google Shape;337;p33"/>
          <p:cNvSpPr txBox="1"/>
          <p:nvPr>
            <p:ph idx="11" type="ftr"/>
          </p:nvPr>
        </p:nvSpPr>
        <p:spPr>
          <a:xfrm>
            <a:off x="5390676" y="6356350"/>
            <a:ext cx="1366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3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3"/>
          <p:cNvSpPr txBox="1"/>
          <p:nvPr/>
        </p:nvSpPr>
        <p:spPr>
          <a:xfrm>
            <a:off x="546550" y="2271750"/>
            <a:ext cx="11098800" cy="3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might seems proﬁtable for a pool operator to  change his strategy and increase his margin.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reality, of course, pool operators will know that people  will leave their pools if they do that.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 expected rewards displayed in the wallet will ”look ahead” and take into  account that only the k most attractive pools will actually  have members.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3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33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2" name="Google Shape;342;p33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3" name="Google Shape;343;p33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3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"/>
          <p:cNvSpPr txBox="1"/>
          <p:nvPr/>
        </p:nvSpPr>
        <p:spPr>
          <a:xfrm>
            <a:off x="1956850" y="1042450"/>
            <a:ext cx="82782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Game Theory</a:t>
            </a:r>
            <a:endParaRPr/>
          </a:p>
        </p:txBody>
      </p:sp>
      <p:sp>
        <p:nvSpPr>
          <p:cNvPr id="351" name="Google Shape;351;p34"/>
          <p:cNvSpPr txBox="1"/>
          <p:nvPr>
            <p:ph idx="11" type="ftr"/>
          </p:nvPr>
        </p:nvSpPr>
        <p:spPr>
          <a:xfrm>
            <a:off x="5390676" y="6356350"/>
            <a:ext cx="1366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4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4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p34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5" name="Google Shape;355;p34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6" name="Google Shape;356;p34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4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550" y="2089300"/>
            <a:ext cx="3158317" cy="4118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6876" y="2133250"/>
            <a:ext cx="2725979" cy="4110603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4"/>
          <p:cNvSpPr txBox="1"/>
          <p:nvPr/>
        </p:nvSpPr>
        <p:spPr>
          <a:xfrm>
            <a:off x="3375675" y="2104900"/>
            <a:ext cx="2656500" cy="40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.John von Neumann (Los Alamos).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By LANL - http://www.lanl.gov/history/atomicbomb/images/NeumannL.GIF (archive copy at the Wayback Machine), Attribution, https://commons.wikimedia.org/w/index.php?curid=3429594</a:t>
            </a:r>
            <a:endParaRPr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4"/>
          <p:cNvSpPr txBox="1"/>
          <p:nvPr/>
        </p:nvSpPr>
        <p:spPr>
          <a:xfrm>
            <a:off x="8587300" y="1884025"/>
            <a:ext cx="2656500" cy="40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.John Forbes Nash Jr. (June 13, 1928 – May 23, 2015)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By Peter Badge / Typos1 - submission by way of Jimmy Wales, CC BY-SA 3.0, https://commons.wikimedia.org/w/index.php?curid=6977799</a:t>
            </a:r>
            <a:endParaRPr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"/>
          <p:cNvSpPr txBox="1"/>
          <p:nvPr/>
        </p:nvSpPr>
        <p:spPr>
          <a:xfrm>
            <a:off x="546550" y="2560350"/>
            <a:ext cx="11098800" cy="3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game theory, Nash's concept of a </a:t>
            </a: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Nash Equilibrium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is of central importance.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Nash Equilibrium is a situation where no player can improve his payoff by unilaterally changing his strategy.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 if all other players stick to their strategies, it would be irrational for any player to change his own strategy.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5"/>
          <p:cNvSpPr txBox="1"/>
          <p:nvPr/>
        </p:nvSpPr>
        <p:spPr>
          <a:xfrm>
            <a:off x="1203675" y="1054850"/>
            <a:ext cx="97917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Nash Equilibria</a:t>
            </a:r>
            <a:endParaRPr/>
          </a:p>
        </p:txBody>
      </p:sp>
      <p:sp>
        <p:nvSpPr>
          <p:cNvPr id="369" name="Google Shape;369;p35"/>
          <p:cNvSpPr txBox="1"/>
          <p:nvPr>
            <p:ph idx="11" type="ftr"/>
          </p:nvPr>
        </p:nvSpPr>
        <p:spPr>
          <a:xfrm>
            <a:off x="5390676" y="6356350"/>
            <a:ext cx="1366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5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5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p35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3" name="Google Shape;373;p35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4" name="Google Shape;374;p35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5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6"/>
          <p:cNvSpPr txBox="1"/>
          <p:nvPr/>
        </p:nvSpPr>
        <p:spPr>
          <a:xfrm>
            <a:off x="1203675" y="1054850"/>
            <a:ext cx="97917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Prisoner’s Dilemma</a:t>
            </a:r>
            <a:endParaRPr/>
          </a:p>
        </p:txBody>
      </p:sp>
      <p:sp>
        <p:nvSpPr>
          <p:cNvPr id="382" name="Google Shape;382;p36"/>
          <p:cNvSpPr txBox="1"/>
          <p:nvPr>
            <p:ph idx="11" type="ftr"/>
          </p:nvPr>
        </p:nvSpPr>
        <p:spPr>
          <a:xfrm>
            <a:off x="5390676" y="6356350"/>
            <a:ext cx="1366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6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6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" name="Google Shape;385;p36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6" name="Google Shape;386;p36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7" name="Google Shape;387;p36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6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650" y="2240450"/>
            <a:ext cx="9455749" cy="25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6"/>
          <p:cNvSpPr txBox="1"/>
          <p:nvPr/>
        </p:nvSpPr>
        <p:spPr>
          <a:xfrm>
            <a:off x="818225" y="5017650"/>
            <a:ext cx="10511700" cy="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game has exactly one </a:t>
            </a:r>
            <a:r>
              <a:rPr lang="en-US" sz="2800">
                <a:solidFill>
                  <a:srgbClr val="13AF3C"/>
                </a:solidFill>
                <a:latin typeface="Calibri"/>
                <a:ea typeface="Calibri"/>
                <a:cs typeface="Calibri"/>
                <a:sym typeface="Calibri"/>
              </a:rPr>
              <a:t>Nash Equilibrium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Both burglars confess and spend five years in prison.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7"/>
          <p:cNvSpPr txBox="1"/>
          <p:nvPr/>
        </p:nvSpPr>
        <p:spPr>
          <a:xfrm>
            <a:off x="546550" y="2968200"/>
            <a:ext cx="11098800" cy="25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a 2022 research paper, game theory was applied to the Cardano incentives mechanism. 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was shown that if the reward distribution follows the rules explained above, then each Nash Equilibrium of the "staking game" will have k stake pools of the same size.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7"/>
          <p:cNvSpPr txBox="1"/>
          <p:nvPr/>
        </p:nvSpPr>
        <p:spPr>
          <a:xfrm>
            <a:off x="1203675" y="1054850"/>
            <a:ext cx="97917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Staking Game</a:t>
            </a:r>
            <a:endParaRPr/>
          </a:p>
        </p:txBody>
      </p:sp>
      <p:sp>
        <p:nvSpPr>
          <p:cNvPr id="398" name="Google Shape;398;p37"/>
          <p:cNvSpPr txBox="1"/>
          <p:nvPr>
            <p:ph idx="11" type="ftr"/>
          </p:nvPr>
        </p:nvSpPr>
        <p:spPr>
          <a:xfrm>
            <a:off x="5390676" y="6356350"/>
            <a:ext cx="1366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INCENTIVES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7"/>
          <p:cNvSpPr txBox="1"/>
          <p:nvPr>
            <p:ph idx="12" type="sldNum"/>
          </p:nvPr>
        </p:nvSpPr>
        <p:spPr>
          <a:xfrm>
            <a:off x="9575933" y="6356352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7"/>
          <p:cNvSpPr txBox="1"/>
          <p:nvPr>
            <p:ph idx="10" type="dt"/>
          </p:nvPr>
        </p:nvSpPr>
        <p:spPr>
          <a:xfrm>
            <a:off x="546538" y="636445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</a:rPr>
              <a:t>9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7F7F7F"/>
                </a:solidFill>
              </a:rPr>
              <a:t>21</a:t>
            </a: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r>
              <a:rPr lang="en-US" sz="1400">
                <a:solidFill>
                  <a:srgbClr val="7F7F7F"/>
                </a:solidFill>
              </a:rPr>
              <a:t>24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" name="Google Shape;401;p37"/>
          <p:cNvCxnSpPr/>
          <p:nvPr/>
        </p:nvCxnSpPr>
        <p:spPr>
          <a:xfrm>
            <a:off x="546538" y="6356352"/>
            <a:ext cx="110988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2" name="Google Shape;402;p37"/>
          <p:cNvCxnSpPr/>
          <p:nvPr/>
        </p:nvCxnSpPr>
        <p:spPr>
          <a:xfrm>
            <a:off x="5523434" y="2020739"/>
            <a:ext cx="1101300" cy="0"/>
          </a:xfrm>
          <a:prstGeom prst="straightConnector1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3" name="Google Shape;403;p37"/>
          <p:cNvSpPr/>
          <p:nvPr/>
        </p:nvSpPr>
        <p:spPr>
          <a:xfrm>
            <a:off x="6032177" y="1953349"/>
            <a:ext cx="134700" cy="13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7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5" name="Google Shape;4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38003"/>
            <a:ext cx="1296448" cy="272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/>
          <p:nvPr/>
        </p:nvSpPr>
        <p:spPr>
          <a:xfrm>
            <a:off x="0" y="0"/>
            <a:ext cx="121920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833" y="152590"/>
            <a:ext cx="1296448" cy="27263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8"/>
          <p:cNvSpPr txBox="1"/>
          <p:nvPr/>
        </p:nvSpPr>
        <p:spPr>
          <a:xfrm>
            <a:off x="4186600" y="2921700"/>
            <a:ext cx="3390900" cy="10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5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